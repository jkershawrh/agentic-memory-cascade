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703" r:id="rId6"/>
  </p:sldMasterIdLst>
  <p:notesMasterIdLst>
    <p:notesMasterId r:id="rId7"/>
  </p:notesMasterIdLst>
  <p:sldIdLst>
    <p:sldId id="256" r:id="rId18"/>
    <p:sldId id="257" r:id="rId17"/>
    <p:sldId id="258" r:id="rId16"/>
    <p:sldId id="259" r:id="rId15"/>
    <p:sldId id="260" r:id="rId14"/>
    <p:sldId id="261" r:id="rId13"/>
    <p:sldId id="262" r:id="rId12"/>
    <p:sldId id="263" r:id="rId11"/>
    <p:sldId id="264" r:id="rId10"/>
    <p:sldId id="267" r:id="rId38"/>
    <p:sldId id="268" r:id="rId39"/>
    <p:sldId id="265" r:id="rId9"/>
    <p:sldId id="266" r:id="rId8"/>
  </p:sldIdLst>
  <p:sldSz cy="6858000" cx="12192000"/>
  <p:notesSz cx="6858000" cy="9144000"/>
  <p:embeddedFontLst>
    <p:embeddedFont>
      <p:font typeface="Red Hat Text Medium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  <p:embeddedFont>
      <p:font typeface="Red Hat Text"/>
      <p:regular r:id="rId31"/>
      <p:bold r:id="rId32"/>
      <p:italic r:id="rId33"/>
      <p:boldItalic r:id="rId34"/>
    </p:embeddedFont>
    <p:embeddedFont>
      <p:font typeface="Red Hat Display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558">
          <p15:clr>
            <a:srgbClr val="9AA0A6"/>
          </p15:clr>
        </p15:guide>
      </p15:sldGuideLst>
    </p:ext>
    <p:ext uri="GoogleSlidesCustomDataVersion2">
      <go:slidesCustomData xmlns:go="http://customooxmlschemas.google.com/" r:id="rId37" roundtripDataSignature="AMtx7milBKMf3C0dfvPuhIr4RHpHwHvg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7563CD-1CAD-44AA-9361-4EABF1BC4C98}">
  <a:tblStyle styleId="{657563CD-1CAD-44AA-9361-4EABF1BC4C9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55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.xml"/><Relationship Id="rId19" Type="http://schemas.openxmlformats.org/officeDocument/2006/relationships/font" Target="fonts/RedHatTextMedium-regular.fntdata"/><Relationship Id="rId20" Type="http://schemas.openxmlformats.org/officeDocument/2006/relationships/font" Target="fonts/RedHatTextMedium-bold.fntdata"/><Relationship Id="rId21" Type="http://schemas.openxmlformats.org/officeDocument/2006/relationships/font" Target="fonts/RedHatTextMedium-italic.fntdata"/><Relationship Id="rId22" Type="http://schemas.openxmlformats.org/officeDocument/2006/relationships/font" Target="fonts/RedHatTextMedium-boldItalic.fntdata"/><Relationship Id="rId23" Type="http://schemas.openxmlformats.org/officeDocument/2006/relationships/font" Target="fonts/RedHatDisplayMedium-regular.fntdata"/><Relationship Id="rId24" Type="http://schemas.openxmlformats.org/officeDocument/2006/relationships/font" Target="fonts/RedHatDisplayMedium-bold.fntdata"/><Relationship Id="rId25" Type="http://schemas.openxmlformats.org/officeDocument/2006/relationships/font" Target="fonts/RedHatDisplayMedium-italic.fntdata"/><Relationship Id="rId26" Type="http://schemas.openxmlformats.org/officeDocument/2006/relationships/font" Target="fonts/RedHatDisplayMedium-boldItalic.fntdata"/><Relationship Id="rId27" Type="http://schemas.openxmlformats.org/officeDocument/2006/relationships/font" Target="fonts/RedHatDisplay-regular.fntdata"/><Relationship Id="rId28" Type="http://schemas.openxmlformats.org/officeDocument/2006/relationships/font" Target="fonts/RedHatDisplay-bold.fntdata"/><Relationship Id="rId29" Type="http://schemas.openxmlformats.org/officeDocument/2006/relationships/font" Target="fonts/RedHatDisplay-italic.fntdata"/><Relationship Id="rId30" Type="http://schemas.openxmlformats.org/officeDocument/2006/relationships/font" Target="fonts/RedHatDisplay-boldItalic.fntdata"/><Relationship Id="rId31" Type="http://schemas.openxmlformats.org/officeDocument/2006/relationships/font" Target="fonts/RedHatText-regular.fntdata"/><Relationship Id="rId32" Type="http://schemas.openxmlformats.org/officeDocument/2006/relationships/font" Target="fonts/RedHatText-bold.fntdata"/><Relationship Id="rId33" Type="http://schemas.openxmlformats.org/officeDocument/2006/relationships/font" Target="fonts/RedHatText-italic.fntdata"/><Relationship Id="rId34" Type="http://schemas.openxmlformats.org/officeDocument/2006/relationships/font" Target="fonts/RedHatText-boldItalic.fntdata"/><Relationship Id="rId35" Type="http://schemas.openxmlformats.org/officeDocument/2006/relationships/font" Target="fonts/RedHatDisplayExtraBold-bold.fntdata"/><Relationship Id="rId36" Type="http://schemas.openxmlformats.org/officeDocument/2006/relationships/font" Target="fonts/RedHatDisplayExtraBold-boldItalic.fntdata"/><Relationship Id="rId37" Type="http://customschemas.google.com/relationships/presentationmetadata" Target="metadata"/><Relationship Id="rId38" Type="http://schemas.openxmlformats.org/officeDocument/2006/relationships/slide" Target="slides/slide12.xml"/><Relationship Id="rId3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5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5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699196abe_36_13116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g3f699196abe_36_13116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3f699196abe_36_13116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g3f699196abe_36_13116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g3f699196abe_36_13116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" name="Google Shape;16;g3f699196abe_36_13116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" name="Google Shape;17;g3f699196abe_36_131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f699196abe_36_131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g3f699196abe_36_13116" title="presentation-template-OpenShift-RH-lwetzel_cover-slide_A-dark.png"/>
          <p:cNvPicPr preferRelativeResize="0"/>
          <p:nvPr/>
        </p:nvPicPr>
        <p:blipFill rotWithShape="1">
          <a:blip r:embed="rId2">
            <a:alphaModFix/>
          </a:blip>
          <a:srcRect b="18208" l="66083" r="0" t="5064"/>
          <a:stretch/>
        </p:blipFill>
        <p:spPr>
          <a:xfrm>
            <a:off x="8404050" y="636650"/>
            <a:ext cx="3788027" cy="482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g3f699196abe_36_1311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7025" y="6191200"/>
            <a:ext cx="2247726" cy="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f699196abe_36_131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f699196abe_36_1312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" name="Google Shape;24;g3f699196abe_36_131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g3f699196abe_36_131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g3f699196abe_36_1312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g3f699196abe_36_13127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8" name="Google Shape;28;g3f699196abe_36_13127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9" name="Google Shape;29;g3f699196abe_36_13127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0" name="Google Shape;30;g3f699196abe_36_1312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210" y="6212235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g3f699196abe_36_131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g3f699196abe_36_131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g3f699196abe_36_131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g3f699196abe_36_1313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g3f699196abe_36_13137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37" name="Google Shape;37;g3f699196abe_36_13137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38" name="Google Shape;38;g3f699196abe_36_13137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9" name="Google Shape;39;g3f699196abe_36_131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0" name="Google Shape;40;g3f699196abe_36_13137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1" name="Google Shape;41;g3f699196abe_36_1313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 1 1 1">
  <p:cSld name="Interior agenda light (g3f699196abe_44_0)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699196abe_36_1476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44" name="Google Shape;44;g3f699196abe_36_1476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g3f699196abe_36_1476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g3f699196abe_36_14763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47" name="Google Shape;47;g3f699196abe_36_14763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48" name="Google Shape;48;g3f699196abe_36_1476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 1">
  <p:cSld name="Interior data three callouts (g3f699196abe_51_0)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699196abe_36_1474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" name="Google Shape;51;g3f699196abe_36_1474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g3f699196abe_36_1474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" name="Google Shape;53;g3f699196abe_36_147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g3f699196abe_36_1474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g3f699196abe_36_1474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" name="Google Shape;56;g3f699196abe_36_1474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57" name="Google Shape;57;g3f699196abe_36_1474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8" name="Google Shape;58;g3f699196abe_36_1474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59" name="Google Shape;59;g3f699196abe_36_1474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0" name="Google Shape;60;g3f699196abe_36_1474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1" name="Google Shape;61;g3f699196abe_36_1474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" name="Google Shape;62;g3f699196abe_36_147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3" name="Google Shape;63;g3f699196abe_36_1474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 1 1">
  <p:cSld name="Interior agenda light (g3f699196abe_66_0)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99196abe_36_147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66" name="Google Shape;66;g3f699196abe_36_147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g3f699196abe_36_1474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g3f699196abe_36_14741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69" name="Google Shape;69;g3f699196abe_36_14741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0" name="Google Shape;70;g3f699196abe_36_14741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 1">
  <p:cSld name="Interior agenda light (g3f699196abe_73_0)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99196abe_36_1473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" name="Google Shape;73;g3f699196abe_36_147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g3f699196abe_36_1473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g3f699196abe_36_14734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6" name="Google Shape;76;g3f699196abe_36_14734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7" name="Google Shape;77;g3f699196abe_36_14734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losing slide with Image (g3f699196abe_80_0)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99196abe_36_1390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0" name="Google Shape;80;g3f699196abe_36_1390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g3f699196abe_36_13902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2" name="Google Shape;82;g3f699196abe_36_13902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99196abe_36_1314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5" name="Google Shape;85;g3f699196abe_36_1314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6" name="Google Shape;86;g3f699196abe_36_1314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87" name="Google Shape;87;g3f699196abe_36_131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g3f699196abe_36_131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g3f699196abe_36_131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g3f699196abe_36_1314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1" name="Google Shape;91;g3f699196abe_36_13148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2" name="Google Shape;92;g3f699196abe_36_13148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3" name="Google Shape;93;g3f699196abe_36_1314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" name="Google Shape;94;g3f699196abe_36_1314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5" name="Google Shape;95;g3f699196abe_36_1314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6" name="Google Shape;96;g3f699196abe_36_1314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7" name="Google Shape;97;g3f699196abe_36_1314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8" name="Google Shape;98;g3f699196abe_36_1314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9" name="Google Shape;99;g3f699196abe_36_1314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0" name="Google Shape;100;g3f699196abe_36_131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01" name="Google Shape;101;g3f699196abe_36_1314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2" name="Google Shape;102;g3f699196abe_36_131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2446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99196abe_36_13168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5" name="Google Shape;105;g3f699196abe_36_1316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g3f699196abe_36_13168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7" name="Google Shape;107;g3f699196abe_36_1316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f699196abe_36_1316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g3f699196abe_36_13168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699196abe_36_13168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" name="Google Shape;111;g3f699196abe_36_13168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g3f699196abe_36_13168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3" name="Google Shape;113;g3f699196abe_36_13168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g3f699196abe_36_13168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12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5" name="Google Shape;115;g3f699196abe_36_13168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6" name="Google Shape;116;g3f699196abe_36_13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f699196abe_36_13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f699196abe_36_13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f699196abe_36_131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f699196abe_36_13168" title="Logo-Red_Hat-Intel-A-Standard-RG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g3f699196abe_36_1318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g3f699196abe_36_1318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3f699196abe_36_1318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g3f699196abe_36_1318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6" name="Google Shape;126;g3f699196abe_36_13186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7" name="Google Shape;127;g3f699196abe_36_13186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8" name="Google Shape;128;g3f699196abe_36_13186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9" name="Google Shape;129;g3f699196abe_36_13186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30" name="Google Shape;130;g3f699196abe_36_13186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1" name="Google Shape;131;g3f699196abe_36_13186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32" name="Google Shape;132;g3f699196abe_36_13186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" name="Google Shape;133;g3f699196abe_36_13186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34" name="Google Shape;134;g3f699196abe_36_13186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5" name="Google Shape;135;g3f699196abe_36_1318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36" name="Google Shape;136;g3f699196abe_36_13186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7" name="Google Shape;137;g3f699196abe_36_1318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99196abe_36_1320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0" name="Google Shape;140;g3f699196abe_36_1320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cxnSp>
        <p:nvCxnSpPr>
          <p:cNvPr id="141" name="Google Shape;141;g3f699196abe_36_1320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g3f699196abe_36_132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g3f699196abe_36_132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g3f699196abe_36_13203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g3f699196abe_36_13203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g3f699196abe_36_13203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47" name="Google Shape;147;g3f699196abe_36_1320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g3f699196abe_36_132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3f699196abe_36_132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g3f699196abe_36_132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g3f699196abe_36_1321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g3f699196abe_36_13213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4" name="Google Shape;154;g3f699196abe_36_1321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5" name="Google Shape;155;g3f699196abe_36_1321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6" name="Google Shape;156;g3f699196abe_36_1321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7" name="Google Shape;157;g3f699196abe_36_132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99196abe_36_13223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699196abe_36_13223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g3f699196abe_36_13223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g3f699196abe_36_13223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3" name="Google Shape;163;g3f699196abe_36_13223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4" name="Google Shape;164;g3f699196abe_36_132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g3f699196abe_36_132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g3f699196abe_36_13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99196abe_36_13232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699196abe_36_13232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g3f699196abe_36_13232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1" name="Google Shape;171;g3f699196abe_36_13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f699196abe_36_13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f699196abe_36_132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699196abe_36_132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699196abe_36_13232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6" name="Google Shape;176;g3f699196abe_36_13232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7" name="Google Shape;177;g3f699196abe_36_13232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8" name="Google Shape;178;g3f699196abe_36_13232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79" name="Google Shape;179;g3f699196abe_36_13232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g3f699196abe_36_132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g3f699196abe_36_132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g3f699196abe_36_132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699196abe_36_13248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5" name="Google Shape;185;g3f699196abe_36_13248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699196abe_36_13248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g3f699196abe_36_13248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g3f699196abe_36_13248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9" name="Google Shape;189;g3f699196abe_36_13248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90" name="Google Shape;190;g3f699196abe_36_132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g3f699196abe_36_132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g3f699196abe_36_132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 1">
  <p:cSld name="TITLE_2_1_1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99196abe_36_13258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" name="Google Shape;195;g3f699196abe_36_13258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699196abe_36_13258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g3f699196abe_36_13258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g3f699196abe_36_13258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9" name="Google Shape;199;g3f699196abe_36_13258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00" name="Google Shape;200;g3f699196abe_36_132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g3f699196abe_36_132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g3f699196abe_36_13258" title="presentation-template-OpenShift-RH-lwetzel_cover-slide_collage-dark.png"/>
          <p:cNvPicPr preferRelativeResize="0"/>
          <p:nvPr/>
        </p:nvPicPr>
        <p:blipFill rotWithShape="1">
          <a:blip r:embed="rId2">
            <a:alphaModFix/>
          </a:blip>
          <a:srcRect b="14809" l="62774" r="0" t="12166"/>
          <a:stretch/>
        </p:blipFill>
        <p:spPr>
          <a:xfrm>
            <a:off x="8658550" y="933600"/>
            <a:ext cx="3533450" cy="38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f699196abe_36_1325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99196abe_36_13269"/>
          <p:cNvSpPr/>
          <p:nvPr/>
        </p:nvSpPr>
        <p:spPr>
          <a:xfrm>
            <a:off x="0" y="5857028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6" name="Google Shape;206;g3f699196abe_36_13269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699196abe_36_13269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08" name="Google Shape;208;g3f699196abe_36_13269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g3f699196abe_36_13269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0" name="Google Shape;210;g3f699196abe_36_13269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1" name="Google Shape;211;g3f699196abe_36_13269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2" name="Google Shape;212;g3f699196abe_36_13269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13" name="Google Shape;213;g3f699196abe_36_13269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f699196abe_36_1326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g3f699196abe_36_1326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g3f699196abe_36_132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699196abe_36_13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699196abe_36_132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699196abe_36_132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f699196abe_36_13269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99196abe_36_13286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" name="Google Shape;223;g3f699196abe_36_13286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699196abe_36_13286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5" name="Google Shape;225;g3f699196abe_36_13286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g3f699196abe_36_13286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7" name="Google Shape;227;g3f699196abe_36_13286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8" name="Google Shape;228;g3f699196abe_36_13286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9" name="Google Shape;229;g3f699196abe_36_13286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0" name="Google Shape;230;g3f699196abe_36_1328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g3f699196abe_36_1328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g3f699196abe_36_1328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g3f699196abe_36_132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f699196abe_36_132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f699196abe_36_132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f699196abe_36_132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f699196abe_36_13286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99196abe_36_13303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g3f699196abe_36_1330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g3f699196abe_36_133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3f699196abe_36_133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g3f699196abe_36_1330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f699196abe_36_133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f699196abe_36_13309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g3f699196abe_36_13309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g3f699196abe_36_13309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49" name="Google Shape;249;g3f699196abe_36_13309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0" name="Google Shape;250;g3f699196abe_36_1330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g3f699196abe_36_1330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2" name="Google Shape;252;g3f699196abe_36_13309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5978524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99196abe_36_1331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55" name="Google Shape;255;g3f699196abe_36_133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g3f699196abe_36_133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g3f699196abe_36_133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58" name="Google Shape;258;g3f699196abe_36_1331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259" name="Google Shape;259;g3f699196abe_36_133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g3f699196abe_36_1331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021209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99196abe_36_13326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63" name="Google Shape;263;g3f699196abe_36_133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g3f699196abe_36_133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3f699196abe_36_1332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66" name="Google Shape;266;g3f699196abe_36_13326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g3f699196abe_36_133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8" name="Google Shape;268;g3f699196abe_36_1332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3026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g3f699196abe_36_133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g3f699196abe_36_133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g3f699196abe_36_1333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73" name="Google Shape;273;g3f699196abe_36_133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g3f699196abe_36_13334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75" name="Google Shape;275;g3f699196abe_36_1333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699196abe_36_1334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78" name="Google Shape;278;g3f699196abe_36_133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g3f699196abe_36_133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g3f699196abe_36_133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81" name="Google Shape;281;g3f699196abe_36_1334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282" name="Google Shape;282;g3f699196abe_36_1334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3" name="Google Shape;283;g3f699196abe_36_133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4" name="Google Shape;284;g3f699196abe_36_1334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699196abe_36_13350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7" name="Google Shape;287;g3f699196abe_36_133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g3f699196abe_36_133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g3f699196abe_36_1335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90" name="Google Shape;290;g3f699196abe_36_133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1" name="Google Shape;291;g3f699196abe_36_1335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99196abe_36_13357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4" name="Google Shape;294;g3f699196abe_36_13357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95" name="Google Shape;295;g3f699196abe_36_133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g3f699196abe_36_13357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7" name="Google Shape;297;g3f699196abe_36_13357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g3f699196abe_36_133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9" name="Google Shape;299;g3f699196abe_36_1335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81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99196abe_36_13365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302" name="Google Shape;302;g3f699196abe_36_133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g3f699196abe_36_1336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304" name="Google Shape;304;g3f699196abe_36_1336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f699196abe_36_133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g3f699196abe_36_13365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g3f699196abe_36_13365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8" name="Google Shape;308;g3f699196abe_36_13365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g3f699196abe_36_13365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3f699196abe_36_13365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841" y="62204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699196abe_36_13376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3" name="Google Shape;313;g3f699196abe_36_1337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4" name="Google Shape;314;g3f699196abe_36_13376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15" name="Google Shape;315;g3f699196abe_36_1337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g3f699196abe_36_1337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g3f699196abe_36_1337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8" name="Google Shape;318;g3f699196abe_36_1337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39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99196abe_36_13384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21" name="Google Shape;321;g3f699196abe_36_1338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g3f699196abe_36_13384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g3f699196abe_36_1338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g3f699196abe_36_1338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325" name="Google Shape;325;g3f699196abe_36_1338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6" name="Google Shape;326;g3f699196abe_36_1338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699196abe_36_1339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29" name="Google Shape;329;g3f699196abe_36_1339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g3f699196abe_36_1339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g3f699196abe_36_1339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g3f699196abe_36_1339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g3f699196abe_36_1339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34" name="Google Shape;334;g3f699196abe_36_13392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35" name="Google Shape;335;g3f699196abe_36_1339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99196abe_36_1340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338" name="Google Shape;338;g3f699196abe_36_1340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g3f699196abe_36_1340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g3f699196abe_36_1340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g3f699196abe_36_1340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g3f699196abe_36_13401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699196abe_36_13401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699196abe_36_13401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699196abe_36_13401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699196abe_36_13401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699196abe_36_13401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48" name="Google Shape;348;g3f699196abe_36_13401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7315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49" name="Google Shape;349;g3f699196abe_36_13401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50" name="Google Shape;350;g3f699196abe_36_1340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51" name="Google Shape;351;g3f699196abe_36_13401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52" name="Google Shape;352;g3f699196abe_36_1340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8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g3f699196abe_36_134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g3f699196abe_36_134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f699196abe_36_134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g3f699196abe_36_1341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g3f699196abe_36_1341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699196abe_36_1341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699196abe_36_13418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699196abe_36_13418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699196abe_36_13418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63" name="Google Shape;363;g3f699196abe_36_1341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64" name="Google Shape;364;g3f699196abe_36_134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65" name="Google Shape;365;g3f699196abe_36_1341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6" name="Google Shape;366;g3f699196abe_36_13418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7" name="Google Shape;367;g3f699196abe_36_1341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g3f699196abe_36_134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g3f699196abe_36_134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g3f699196abe_36_134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g3f699196abe_36_1343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73" name="Google Shape;373;g3f699196abe_36_134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699196abe_36_13433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5" name="Google Shape;375;g3f699196abe_36_13433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6" name="Google Shape;376;g3f699196abe_36_13433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g3f699196abe_36_13433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78" name="Google Shape;378;g3f699196abe_36_1343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79" name="Google Shape;379;g3f699196abe_36_13433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80" name="Google Shape;380;g3f699196abe_36_1343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186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99196abe_36_1344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383" name="Google Shape;383;g3f699196abe_36_134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g3f699196abe_36_134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g3f699196abe_36_134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g3f699196abe_36_1344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87" name="Google Shape;387;g3f699196abe_36_1344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9" name="Google Shape;389;g3f699196abe_36_134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g3f699196abe_36_134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g3f699196abe_36_134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g3f699196abe_36_1345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g3f699196abe_36_13453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94" name="Google Shape;394;g3f699196abe_36_1345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95" name="Google Shape;395;g3f699196abe_36_13453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396" name="Google Shape;396;g3f699196abe_36_1345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99196abe_36_1346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99" name="Google Shape;399;g3f699196abe_36_1346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g3f699196abe_36_1346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g3f699196abe_36_1346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g3f699196abe_36_1346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g3f699196abe_36_13462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404" name="Google Shape;404;g3f699196abe_36_1346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699196abe_36_1347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407" name="Google Shape;407;g3f699196abe_36_1347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g3f699196abe_36_1347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g3f699196abe_36_1347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g3f699196abe_36_1347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11" name="Google Shape;411;g3f699196abe_36_13470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g3f699196abe_36_13470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13" name="Google Shape;413;g3f699196abe_36_13470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4" name="Google Shape;414;g3f699196abe_36_13470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415" name="Google Shape;415;g3f699196abe_36_1347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" name="Google Shape;417;g3f699196abe_36_1348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g3f699196abe_36_1348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f699196abe_36_1348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g3f699196abe_36_1348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g3f699196abe_36_13481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22" name="Google Shape;422;g3f699196abe_36_13481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23" name="Google Shape;423;g3f699196abe_36_13481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24" name="Google Shape;424;g3f699196abe_36_13481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25" name="Google Shape;425;g3f699196abe_36_13481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26" name="Google Shape;426;g3f699196abe_36_13481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27" name="Google Shape;427;g3f699196abe_36_1348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28" name="Google Shape;428;g3f699196abe_36_1348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29" name="Google Shape;429;g3f699196abe_36_1348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30" name="Google Shape;430;g3f699196abe_36_1348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66" y="61653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699196abe_36_13496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33" name="Google Shape;433;g3f699196abe_36_13496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434" name="Google Shape;434;g3f699196abe_36_1349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g3f699196abe_36_1349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g3f699196abe_36_1349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g3f699196abe_36_1349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g3f699196abe_36_13496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439" name="Google Shape;439;g3f699196abe_36_13496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0" name="Google Shape;440;g3f699196abe_36_13496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1" name="Google Shape;441;g3f699196abe_36_13496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42" name="Google Shape;442;g3f699196abe_36_13496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3" name="Google Shape;443;g3f699196abe_36_13496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44" name="Google Shape;444;g3f699196abe_36_13496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5" name="Google Shape;445;g3f699196abe_36_1349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46" name="Google Shape;446;g3f699196abe_36_13496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47" name="Google Shape;447;g3f699196abe_36_1349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" name="Google Shape;449;g3f699196abe_36_135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g3f699196abe_36_135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g3f699196abe_36_135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g3f699196abe_36_1351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53" name="Google Shape;453;g3f699196abe_36_13513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4" name="Google Shape;454;g3f699196abe_36_13513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55" name="Google Shape;455;g3f699196abe_36_13513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56" name="Google Shape;456;g3f699196abe_36_13513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57" name="Google Shape;457;g3f699196abe_36_13513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58" name="Google Shape;458;g3f699196abe_36_13513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59" name="Google Shape;459;g3f699196abe_36_13513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60" name="Google Shape;460;g3f699196abe_36_1351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61" name="Google Shape;461;g3f699196abe_36_13513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62" name="Google Shape;462;g3f699196abe_36_135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g3f699196abe_36_135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g3f699196abe_36_135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g3f699196abe_36_135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g3f699196abe_36_1352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8" name="Google Shape;468;g3f699196abe_36_1352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69" name="Google Shape;469;g3f699196abe_36_13528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70" name="Google Shape;470;g3f699196abe_36_13528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71" name="Google Shape;471;g3f699196abe_36_13528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72" name="Google Shape;472;g3f699196abe_36_13528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73" name="Google Shape;473;g3f699196abe_36_13528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74" name="Google Shape;474;g3f699196abe_36_13528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75" name="Google Shape;475;g3f699196abe_36_13528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76" name="Google Shape;476;g3f699196abe_36_1352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77" name="Google Shape;477;g3f699196abe_36_13528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78" name="Google Shape;478;g3f699196abe_36_1352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266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" name="Google Shape;480;g3f699196abe_36_135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g3f699196abe_36_135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g3f699196abe_36_135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g3f699196abe_36_1354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4" name="Google Shape;484;g3f699196abe_36_13544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85" name="Google Shape;485;g3f699196abe_36_13544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86" name="Google Shape;486;g3f699196abe_36_13544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87" name="Google Shape;487;g3f699196abe_36_13544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88" name="Google Shape;488;g3f699196abe_36_13544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699196abe_36_13544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f699196abe_36_13544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699196abe_36_13544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699196abe_36_13544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699196abe_36_13544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699196abe_36_13544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f699196abe_36_13544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699196abe_36_13544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699196abe_36_13544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699196abe_36_13544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699196abe_36_13544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699196abe_36_13544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699196abe_36_13544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699196abe_36_13544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699196abe_36_13544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699196abe_36_13544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699196abe_36_13544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f699196abe_36_13544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f699196abe_36_13544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f699196abe_36_13544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f699196abe_36_13544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699196abe_36_13544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699196abe_36_13544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699196abe_36_13544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699196abe_36_13544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f699196abe_36_13544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699196abe_36_13544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699196abe_36_13544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699196abe_36_13544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699196abe_36_13544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699196abe_36_13544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699196abe_36_13544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699196abe_36_13544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699196abe_36_13544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699196abe_36_13544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699196abe_36_13544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699196abe_36_13544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699196abe_36_13544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f699196abe_36_13544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699196abe_36_13544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699196abe_36_13544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699196abe_36_13544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f699196abe_36_13544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699196abe_36_13544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699196abe_36_13544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699196abe_36_13544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f699196abe_36_13544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699196abe_36_13544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699196abe_36_13544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699196abe_36_13544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699196abe_36_13544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f699196abe_36_13544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699196abe_36_13544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699196abe_36_13544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f699196abe_36_13544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699196abe_36_13544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699196abe_36_13544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699196abe_36_13544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699196abe_36_13544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f699196abe_36_13544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f699196abe_36_13544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699196abe_36_13544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f699196abe_36_13544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699196abe_36_13544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f699196abe_36_13544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f699196abe_36_13544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f699196abe_36_13544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699196abe_36_13544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f699196abe_36_13544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699196abe_36_13544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699196abe_36_13544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f699196abe_36_13544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699196abe_36_13544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699196abe_36_13544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699196abe_36_13544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f699196abe_36_13544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f699196abe_36_13544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699196abe_36_13544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f699196abe_36_13544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f699196abe_36_13544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699196abe_36_13544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f699196abe_36_13544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f699196abe_36_13544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f699196abe_36_13544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f699196abe_36_13544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699196abe_36_13544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699196abe_36_13544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f699196abe_36_13544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f699196abe_36_13544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f699196abe_36_13544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f699196abe_36_13544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f699196abe_36_13544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f699196abe_36_13544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699196abe_36_13544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699196abe_36_13544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f699196abe_36_13544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f699196abe_36_13544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f699196abe_36_13544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f699196abe_36_13544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699196abe_36_13544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f699196abe_36_13544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f699196abe_36_13544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f699196abe_36_13544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699196abe_36_13544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f699196abe_36_13544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f699196abe_36_13544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699196abe_36_13544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699196abe_36_13544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699196abe_36_13544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f699196abe_36_13544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699196abe_36_13544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f699196abe_36_13544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f699196abe_36_13544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f699196abe_36_13544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699196abe_36_13544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f699196abe_36_13544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f699196abe_36_13544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f699196abe_36_13544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f699196abe_36_13544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f699196abe_36_13544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699196abe_36_13544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699196abe_36_13544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699196abe_36_13544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f699196abe_36_13544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699196abe_36_13544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699196abe_36_13544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f699196abe_36_13544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699196abe_36_13544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699196abe_36_13544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699196abe_36_13544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699196abe_36_13544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699196abe_36_13544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f699196abe_36_13544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699196abe_36_13544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699196abe_36_13544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f699196abe_36_13544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699196abe_36_13544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699196abe_36_13544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699196abe_36_13544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f699196abe_36_13544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699196abe_36_13544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699196abe_36_13544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699196abe_36_13544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f699196abe_36_13544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699196abe_36_13544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f699196abe_36_13544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699196abe_36_13544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699196abe_36_13544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699196abe_36_13544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699196abe_36_13544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699196abe_36_13544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699196abe_36_13544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699196abe_36_13544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699196abe_36_13544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699196abe_36_13544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699196abe_36_13544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699196abe_36_13544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f699196abe_36_13544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f699196abe_36_13544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f699196abe_36_13544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699196abe_36_13544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f699196abe_36_13544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f699196abe_36_13544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699196abe_36_13544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f699196abe_36_13544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f699196abe_36_13544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f699196abe_36_13544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f699196abe_36_13544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f699196abe_36_13544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g3f699196abe_36_13544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699196abe_36_13544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699196abe_36_13544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f699196abe_36_13544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f699196abe_36_13544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699196abe_36_13544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699196abe_36_13544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699196abe_36_13544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699196abe_36_13544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699196abe_36_13544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699196abe_36_13544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699196abe_36_13544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f699196abe_36_13544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f699196abe_36_13544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f699196abe_36_13544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f699196abe_36_13544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f699196abe_36_13544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699196abe_36_13544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f699196abe_36_13544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699196abe_36_13544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f699196abe_36_13544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f699196abe_36_13544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f699196abe_36_13544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f699196abe_36_13544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f699196abe_36_13544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f699196abe_36_13544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699196abe_36_13544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f699196abe_36_13544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699196abe_36_13544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699196abe_36_13544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f699196abe_36_13544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9" name="Google Shape;689;g3f699196abe_36_1354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90" name="Google Shape;690;g3f699196abe_36_13544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91" name="Google Shape;691;g3f699196abe_36_1354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8566" y="61645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3" name="Google Shape;693;g3f699196abe_36_137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g3f699196abe_36_137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g3f699196abe_36_137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6" name="Google Shape;696;g3f699196abe_36_137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97" name="Google Shape;697;g3f699196abe_36_13757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98" name="Google Shape;698;g3f699196abe_36_13757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99" name="Google Shape;699;g3f699196abe_36_13757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700" name="Google Shape;700;g3f699196abe_36_13757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1" name="Google Shape;701;g3f699196abe_36_13757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2" name="Google Shape;702;g3f699196abe_36_13757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3" name="Google Shape;703;g3f699196abe_36_13757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704" name="Google Shape;704;g3f699196abe_36_13757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pic>
        <p:nvPicPr>
          <p:cNvPr id="705" name="Google Shape;705;g3f699196abe_36_137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g3f699196abe_36_137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g3f699196abe_36_137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g3f699196abe_36_13757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9" name="Google Shape;709;g3f699196abe_36_137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10" name="Google Shape;710;g3f699196abe_36_13757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11" name="Google Shape;711;g3f699196abe_36_1375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3" name="Google Shape;713;g3f699196abe_36_1377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g3f699196abe_36_1377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5" name="Google Shape;715;g3f699196abe_36_1377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g3f699196abe_36_1377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7" name="Google Shape;717;g3f699196abe_36_13777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18" name="Google Shape;718;g3f699196abe_36_13777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719" name="Google Shape;719;g3f699196abe_36_13777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20" name="Google Shape;720;g3f699196abe_36_13777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721" name="Google Shape;721;g3f699196abe_36_13777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722" name="Google Shape;722;g3f699196abe_36_137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3f699196abe_36_137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3f699196abe_36_13777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5" name="Google Shape;725;g3f699196abe_36_1377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26" name="Google Shape;726;g3f699196abe_36_13777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27" name="Google Shape;727;g3f699196abe_36_1377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699196abe_36_1379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0" name="Google Shape;730;g3f699196abe_36_1379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1" name="Google Shape;731;g3f699196abe_36_1379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2" name="Google Shape;732;g3f699196abe_36_1379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g3f699196abe_36_1379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4" name="Google Shape;734;g3f699196abe_36_13793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35" name="Google Shape;735;g3f699196abe_36_13793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736" name="Google Shape;736;g3f699196abe_36_137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f699196abe_36_1379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7773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9" name="Google Shape;739;g3f699196abe_36_1380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g3f699196abe_36_138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g3f699196abe_36_138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2" name="Google Shape;742;g3f699196abe_36_1380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3" name="Google Shape;743;g3f699196abe_36_13803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4" name="Google Shape;744;g3f699196abe_36_13803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5" name="Google Shape;745;g3f699196abe_36_13803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6" name="Google Shape;746;g3f699196abe_36_13803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7" name="Google Shape;747;g3f699196abe_36_13803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8" name="Google Shape;748;g3f699196abe_36_13803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9" name="Google Shape;749;g3f699196abe_36_13803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50" name="Google Shape;750;g3f699196abe_36_13803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51" name="Google Shape;751;g3f699196abe_36_13803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52" name="Google Shape;752;g3f699196abe_36_1380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53" name="Google Shape;753;g3f699196abe_36_13803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54" name="Google Shape;754;g3f699196abe_36_1380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6" name="Google Shape;756;g3f699196abe_36_138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7" name="Google Shape;757;g3f699196abe_36_138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8" name="Google Shape;758;g3f699196abe_36_138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9" name="Google Shape;759;g3f699196abe_36_1382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0" name="Google Shape;760;g3f699196abe_36_13820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61" name="Google Shape;761;g3f699196abe_36_13820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62" name="Google Shape;762;g3f699196abe_36_13820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63" name="Google Shape;763;g3f699196abe_36_13820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64" name="Google Shape;764;g3f699196abe_36_13820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5" name="Google Shape;765;g3f699196abe_36_13820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66" name="Google Shape;766;g3f699196abe_36_13820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7" name="Google Shape;767;g3f699196abe_36_13820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68" name="Google Shape;768;g3f699196abe_36_13820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9" name="Google Shape;769;g3f699196abe_36_13820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70" name="Google Shape;770;g3f699196abe_36_13820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1" name="Google Shape;771;g3f699196abe_36_13820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2" name="Google Shape;772;g3f699196abe_36_1382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73" name="Google Shape;773;g3f699196abe_36_13820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74" name="Google Shape;774;g3f699196abe_36_1382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699196abe_36_13840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77" name="Google Shape;777;g3f699196abe_36_13840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/>
        </p:txBody>
      </p:sp>
      <p:sp>
        <p:nvSpPr>
          <p:cNvPr id="778" name="Google Shape;778;g3f699196abe_36_1384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79" name="Google Shape;779;g3f699196abe_36_138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g3f699196abe_36_138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g3f699196abe_36_138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2" name="Google Shape;782;g3f699196abe_36_13840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3" name="Google Shape;783;g3f699196abe_36_13840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84" name="Google Shape;784;g3f699196abe_36_13840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5" name="Google Shape;785;g3f699196abe_36_13840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86" name="Google Shape;786;g3f699196abe_36_13840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7" name="Google Shape;787;g3f699196abe_36_13840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88" name="Google Shape;788;g3f699196abe_36_13840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89" name="Google Shape;789;g3f699196abe_36_1384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1" name="Google Shape;791;g3f699196abe_36_138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g3f699196abe_36_138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3" name="Google Shape;793;g3f699196abe_36_138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g3f699196abe_36_1385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5" name="Google Shape;795;g3f699196abe_36_13855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/>
        </p:txBody>
      </p:sp>
      <p:sp>
        <p:nvSpPr>
          <p:cNvPr id="796" name="Google Shape;796;g3f699196abe_36_13855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7" name="Google Shape;797;g3f699196abe_36_1385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98" name="Google Shape;798;g3f699196abe_36_13855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99" name="Google Shape;799;g3f699196abe_36_1385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1" name="Google Shape;801;g3f699196abe_36_1386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g3f699196abe_36_138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g3f699196abe_36_138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g3f699196abe_36_1386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5" name="Google Shape;805;g3f699196abe_36_13865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06" name="Google Shape;806;g3f699196abe_36_13865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7" name="Google Shape;807;g3f699196abe_36_1386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808" name="Google Shape;808;g3f699196abe_36_13865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09" name="Google Shape;809;g3f699196abe_36_1386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12187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f699196abe_36_13875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812" name="Google Shape;812;g3f699196abe_36_1387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13" name="Google Shape;813;g3f699196abe_36_1387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g3f699196abe_36_1387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5" name="Google Shape;815;g3f699196abe_36_1387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6" name="Google Shape;816;g3f699196abe_36_1387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17" name="Google Shape;817;g3f699196abe_36_1387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f699196abe_36_13883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20" name="Google Shape;820;g3f699196abe_36_13883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21" name="Google Shape;821;g3f699196abe_36_1388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822" name="Google Shape;822;g3f699196abe_36_1388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3" name="Google Shape;823;g3f699196abe_36_1388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24" name="Google Shape;824;g3f699196abe_36_1388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g3f699196abe_36_1388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6" name="Google Shape;826;g3f699196abe_36_13883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27" name="Google Shape;827;g3f699196abe_36_138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9" name="Google Shape;829;g3f699196abe_36_1389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g3f699196abe_36_1389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31" name="Google Shape;831;g3f699196abe_36_1389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g3f699196abe_36_1389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3" name="Google Shape;833;g3f699196abe_36_1389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4" name="Google Shape;834;g3f699196abe_36_13893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35" name="Google Shape;835;g3f699196abe_36_13893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36" name="Google Shape;836;g3f699196abe_36_1389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44" name="Google Shape;844;p1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6" name="Google Shape;846;p1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7" name="Google Shape;847;p1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8" name="Google Shape;848;p1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49" name="Google Shape;849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0" name="Google Shape;850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1" name="Google Shape;851;p12" title="presentation-template-OpenShift-RH-lwetzel_cover-slide_A-dark.png"/>
          <p:cNvPicPr preferRelativeResize="0"/>
          <p:nvPr/>
        </p:nvPicPr>
        <p:blipFill rotWithShape="1">
          <a:blip r:embed="rId2">
            <a:alphaModFix/>
          </a:blip>
          <a:srcRect b="18208" l="66083" r="0" t="5064"/>
          <a:stretch/>
        </p:blipFill>
        <p:spPr>
          <a:xfrm>
            <a:off x="8404050" y="636650"/>
            <a:ext cx="3788027" cy="482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1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7025" y="6191200"/>
            <a:ext cx="2247726" cy="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4" name="Google Shape;854;p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1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56" name="Google Shape;856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7" name="Google Shape;857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8" name="Google Shape;858;p1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9" name="Google Shape;859;p13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60" name="Google Shape;860;p13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61" name="Google Shape;861;p1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62" name="Google Shape;862;p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210" y="6212235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4" name="Google Shape;864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6" name="Google Shape;866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7" name="Google Shape;867;p1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8" name="Google Shape;868;p15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69" name="Google Shape;869;p15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70" name="Google Shape;870;p15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71" name="Google Shape;871;p1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872" name="Google Shape;872;p15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73" name="Google Shape;873;p1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76" name="Google Shape;876;p1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77" name="Google Shape;877;p1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878" name="Google Shape;878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0" name="Google Shape;880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1" name="Google Shape;881;p1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82" name="Google Shape;882;p18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3" name="Google Shape;883;p18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4" name="Google Shape;884;p1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5" name="Google Shape;885;p1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86" name="Google Shape;886;p1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7" name="Google Shape;887;p1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88" name="Google Shape;888;p1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9" name="Google Shape;889;p1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90" name="Google Shape;890;p1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91" name="Google Shape;891;p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892" name="Google Shape;892;p1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93" name="Google Shape;893;p1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2446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96" name="Google Shape;896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19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898" name="Google Shape;898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0" name="Google Shape;900;p19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9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2" name="Google Shape;902;p19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3" name="Google Shape;903;p19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4" name="Google Shape;904;p19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5" name="Google Shape;905;p19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12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06" name="Google Shape;906;p19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07" name="Google Shape;9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19" title="Logo-Red_Hat-Intel-A-Standard-RG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3" name="Google Shape;913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6" name="Google Shape;916;p1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17" name="Google Shape;917;p14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18" name="Google Shape;918;p14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19" name="Google Shape;919;p14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0" name="Google Shape;920;p14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21" name="Google Shape;921;p14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2" name="Google Shape;922;p14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23" name="Google Shape;923;p14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4" name="Google Shape;924;p14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25" name="Google Shape;925;p14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6" name="Google Shape;926;p1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927" name="Google Shape;927;p14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28" name="Google Shape;928;p1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1" name="Google Shape;931;p1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cxnSp>
        <p:nvCxnSpPr>
          <p:cNvPr id="932" name="Google Shape;932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3" name="Google Shape;933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5" name="Google Shape;935;p16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6" name="Google Shape;936;p1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7" name="Google Shape;937;p16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938" name="Google Shape;938;p1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0" name="Google Shape;940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2" name="Google Shape;942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3" name="Google Shape;943;p1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4" name="Google Shape;944;p17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945" name="Google Shape;945;p1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6" name="Google Shape;946;p1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947" name="Google Shape;947;p1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48" name="Google Shape;948;p1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0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0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2" name="Google Shape;952;p20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3" name="Google Shape;953;p20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54" name="Google Shape;954;p20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55" name="Google Shape;955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6" name="Google Shape;956;p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7" name="Google Shape;9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1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1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1" name="Google Shape;961;p21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62" name="Google Shape;9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21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7" name="Google Shape;967;p21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8" name="Google Shape;968;p21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9" name="Google Shape;969;p21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70" name="Google Shape;970;p21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1" name="Google Shape;971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3" name="Google Shape;97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6" name="Google Shape;976;p2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8" name="Google Shape;978;p2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9" name="Google Shape;979;p2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80" name="Google Shape;980;p2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81" name="Google Shape;981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2" name="Google Shape;982;p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3" name="Google Shape;983;p2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 1">
  <p:cSld name="TITLE_2_1_1">
    <p:bg>
      <p:bgPr>
        <a:solidFill>
          <a:schemeClr val="dk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3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6" name="Google Shape;986;p23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3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8" name="Google Shape;988;p23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9" name="Google Shape;989;p23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90" name="Google Shape;990;p23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91" name="Google Shape;991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p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3" name="Google Shape;993;p23" title="presentation-template-OpenShift-RH-lwetzel_cover-slide_collage-dark.png"/>
          <p:cNvPicPr preferRelativeResize="0"/>
          <p:nvPr/>
        </p:nvPicPr>
        <p:blipFill rotWithShape="1">
          <a:blip r:embed="rId2">
            <a:alphaModFix/>
          </a:blip>
          <a:srcRect b="14809" l="62774" r="0" t="12166"/>
          <a:stretch/>
        </p:blipFill>
        <p:spPr>
          <a:xfrm>
            <a:off x="8658550" y="933600"/>
            <a:ext cx="3533450" cy="38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2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4"/>
          <p:cNvSpPr/>
          <p:nvPr/>
        </p:nvSpPr>
        <p:spPr>
          <a:xfrm>
            <a:off x="0" y="5857028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7" name="Google Shape;997;p2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4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999" name="Google Shape;999;p24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0" name="Google Shape;1000;p24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1" name="Google Shape;1001;p24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2" name="Google Shape;1002;p24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3" name="Google Shape;1003;p24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04" name="Google Shape;1004;p24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5" name="Google Shape;1005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7" name="Google Shape;100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24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5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4" name="Google Shape;1014;p25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016" name="Google Shape;1016;p2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7" name="Google Shape;1017;p2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8" name="Google Shape;1018;p2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9" name="Google Shape;1019;p2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0" name="Google Shape;1020;p2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21" name="Google Shape;1021;p2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3" name="Google Shape;1023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4" name="Google Shape;102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25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6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1" name="Google Shape;1031;p2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2" name="Google Shape;1032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3" name="Google Shape;1033;p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4" name="Google Shape;1034;p2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27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8" name="Google Shape;1038;p27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9" name="Google Shape;1039;p27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40" name="Google Shape;1040;p27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41" name="Google Shape;1041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2" name="Google Shape;1042;p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3" name="Google Shape;1043;p2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5978524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46" name="Google Shape;1046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8" name="Google Shape;1048;p2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49" name="Google Shape;1049;p2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1050" name="Google Shape;1050;p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1" name="Google Shape;1051;p2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021209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54" name="Google Shape;1054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6" name="Google Shape;1056;p2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57" name="Google Shape;1057;p29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8" name="Google Shape;1058;p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9" name="Google Shape;1059;p29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3026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1" name="Google Shape;1061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3" name="Google Shape;1063;p3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64" name="Google Shape;1064;p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5" name="Google Shape;1065;p30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66" name="Google Shape;1066;p3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69" name="Google Shape;1069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1" name="Google Shape;1071;p3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72" name="Google Shape;1072;p3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1073" name="Google Shape;1073;p3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4" name="Google Shape;1074;p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5" name="Google Shape;1075;p3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32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8" name="Google Shape;1078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0" name="Google Shape;1080;p3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81" name="Google Shape;1081;p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2" name="Google Shape;1082;p3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3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5" name="Google Shape;1085;p3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086" name="Google Shape;1086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7" name="Google Shape;1087;p3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88" name="Google Shape;1088;p3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9" name="Google Shape;1089;p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0" name="Google Shape;1090;p3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81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93" name="Google Shape;1093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3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95" name="Google Shape;1095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7" name="Google Shape;1097;p34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8" name="Google Shape;1098;p34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9" name="Google Shape;1099;p34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0" name="Google Shape;1100;p34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1" name="Google Shape;1101;p3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841" y="62204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5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4" name="Google Shape;1104;p35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05" name="Google Shape;1105;p3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106" name="Google Shape;1106;p35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7" name="Google Shape;1107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8" name="Google Shape;1108;p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9" name="Google Shape;1109;p3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39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3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12" name="Google Shape;1112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3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5" name="Google Shape;1115;p3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116" name="Google Shape;1116;p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7" name="Google Shape;1117;p3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120" name="Google Shape;1120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2" name="Google Shape;1122;p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3" name="Google Shape;1123;p3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4" name="Google Shape;1124;p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25" name="Google Shape;1125;p37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26" name="Google Shape;1126;p3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129" name="Google Shape;1129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0" name="Google Shape;1130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1" name="Google Shape;1131;p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2" name="Google Shape;1132;p3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3" name="Google Shape;1133;p38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8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8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8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9" name="Google Shape;1139;p38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7315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0" name="Google Shape;1140;p38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42" name="Google Shape;1142;p38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43" name="Google Shape;1143;p3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8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5" name="Google Shape;1145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7" name="Google Shape;1147;p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8" name="Google Shape;1148;p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9" name="Google Shape;1149;p3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9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9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9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4" name="Google Shape;1154;p3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5" name="Google Shape;1155;p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56" name="Google Shape;1156;p3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57" name="Google Shape;1157;p39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158" name="Google Shape;1158;p39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0" name="Google Shape;1160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1" name="Google Shape;1161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2" name="Google Shape;1162;p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3" name="Google Shape;1163;p4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164" name="Google Shape;116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40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6" name="Google Shape;1166;p40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7" name="Google Shape;1167;p40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8" name="Google Shape;1168;p40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9" name="Google Shape;1169;p4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70" name="Google Shape;1170;p40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71" name="Google Shape;1171;p4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186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174" name="Google Shape;1174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6" name="Google Shape;1176;p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7" name="Google Shape;1177;p4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178" name="Google Shape;1178;p4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0" name="Google Shape;1180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1" name="Google Shape;1181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2" name="Google Shape;1182;p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3" name="Google Shape;1183;p4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4" name="Google Shape;1184;p4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5" name="Google Shape;1185;p4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86" name="Google Shape;1186;p42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187" name="Google Shape;1187;p4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190" name="Google Shape;1190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1" name="Google Shape;1191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2" name="Google Shape;1192;p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3" name="Google Shape;1193;p4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4" name="Google Shape;1194;p43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195" name="Google Shape;1195;p4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4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198" name="Google Shape;1198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9" name="Google Shape;1199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1" name="Google Shape;1201;p4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02" name="Google Shape;1202;p4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3" name="Google Shape;1203;p4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04" name="Google Shape;1204;p4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5" name="Google Shape;1205;p4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1206" name="Google Shape;1206;p4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8" name="Google Shape;1208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9" name="Google Shape;1209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0" name="Google Shape;1210;p4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1" name="Google Shape;1211;p4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2" name="Google Shape;1212;p4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13" name="Google Shape;1213;p4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214" name="Google Shape;1214;p4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5" name="Google Shape;1215;p4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6" name="Google Shape;1216;p4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17" name="Google Shape;1217;p4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218" name="Google Shape;1218;p4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19" name="Google Shape;1219;p4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220" name="Google Shape;1220;p4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21" name="Google Shape;1221;p4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66" y="61653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6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24" name="Google Shape;1224;p46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225" name="Google Shape;1225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8" name="Google Shape;1228;p4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9" name="Google Shape;1229;p46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230" name="Google Shape;1230;p46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31" name="Google Shape;1231;p46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32" name="Google Shape;1232;p46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33" name="Google Shape;1233;p46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34" name="Google Shape;1234;p46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35" name="Google Shape;1235;p46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36" name="Google Shape;1236;p4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237" name="Google Shape;1237;p46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38" name="Google Shape;1238;p4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0" name="Google Shape;1240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2" name="Google Shape;1242;p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3" name="Google Shape;1243;p4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44" name="Google Shape;1244;p47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45" name="Google Shape;1245;p47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246" name="Google Shape;1246;p47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47" name="Google Shape;1247;p47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48" name="Google Shape;1248;p47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49" name="Google Shape;1249;p47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50" name="Google Shape;1250;p47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51" name="Google Shape;1251;p4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252" name="Google Shape;1252;p47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53" name="Google Shape;1253;p4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5" name="Google Shape;1255;p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6" name="Google Shape;1256;p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7" name="Google Shape;1257;p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8" name="Google Shape;1258;p4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9" name="Google Shape;1259;p4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260" name="Google Shape;1260;p48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61" name="Google Shape;1261;p48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62" name="Google Shape;1262;p48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63" name="Google Shape;1263;p48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64" name="Google Shape;1264;p48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65" name="Google Shape;1265;p48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66" name="Google Shape;1266;p48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67" name="Google Shape;1267;p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268" name="Google Shape;1268;p48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69" name="Google Shape;1269;p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266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1" name="Google Shape;1271;p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3" name="Google Shape;1273;p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4" name="Google Shape;1274;p4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5" name="Google Shape;1275;p49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276" name="Google Shape;1276;p49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77" name="Google Shape;1277;p49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278" name="Google Shape;1278;p49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79" name="Google Shape;1279;p49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9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9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9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9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9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9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9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9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9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9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9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9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9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9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9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49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9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9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9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9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9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49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9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49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49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49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49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9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9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9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49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9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9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49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9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9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49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49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49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49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9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9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9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9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49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49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49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49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49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49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49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9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9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49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9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9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49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9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9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49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49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49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9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49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9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49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49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49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9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9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9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9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9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49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49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9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49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9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9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49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49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9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9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49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49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49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49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49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49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49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49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49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49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49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9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9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49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49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49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49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9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9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9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9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9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9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49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9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9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9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9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49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9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49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9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9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9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9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9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9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9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49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49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49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49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49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49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49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49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49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49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9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49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49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49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49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49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49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49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49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49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49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49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49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49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49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49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49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49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49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49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49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9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49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49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49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49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49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9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9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49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49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9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49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49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49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49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49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9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9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9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9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49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49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49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9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9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9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9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49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49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49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49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49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49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49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49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49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49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49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9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9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9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49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49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49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49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49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49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49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80" name="Google Shape;1480;p4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481" name="Google Shape;1481;p49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82" name="Google Shape;1482;p49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8566" y="61645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4" name="Google Shape;1484;p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5" name="Google Shape;1485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6" name="Google Shape;1486;p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7" name="Google Shape;1487;p5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88" name="Google Shape;1488;p50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89" name="Google Shape;1489;p50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90" name="Google Shape;1490;p50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491" name="Google Shape;1491;p50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92" name="Google Shape;1492;p50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93" name="Google Shape;1493;p50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94" name="Google Shape;1494;p50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495" name="Google Shape;1495;p50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pic>
        <p:nvPicPr>
          <p:cNvPr id="1496" name="Google Shape;149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50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00" name="Google Shape;1500;p5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01" name="Google Shape;1501;p50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02" name="Google Shape;1502;p5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4" name="Google Shape;1504;p5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5" name="Google Shape;1505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6" name="Google Shape;1506;p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7" name="Google Shape;1507;p5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08" name="Google Shape;1508;p51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09" name="Google Shape;1509;p51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510" name="Google Shape;1510;p51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511" name="Google Shape;1511;p51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512" name="Google Shape;1512;p51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513" name="Google Shape;151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51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16" name="Google Shape;1516;p5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17" name="Google Shape;1517;p51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18" name="Google Shape;1518;p5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5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21" name="Google Shape;1521;p5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2" name="Google Shape;1522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3" name="Google Shape;1523;p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4" name="Google Shape;1524;p5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5" name="Google Shape;1525;p52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26" name="Google Shape;1526;p52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1527" name="Google Shape;152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5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7773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0" name="Google Shape;1530;p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1" name="Google Shape;1531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2" name="Google Shape;1532;p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3" name="Google Shape;1533;p5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4" name="Google Shape;1534;p53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35" name="Google Shape;1535;p53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36" name="Google Shape;1536;p53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37" name="Google Shape;1537;p53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38" name="Google Shape;1538;p53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39" name="Google Shape;1539;p53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40" name="Google Shape;1540;p53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41" name="Google Shape;1541;p53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42" name="Google Shape;1542;p53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43" name="Google Shape;1543;p5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44" name="Google Shape;1544;p53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45" name="Google Shape;1545;p5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7" name="Google Shape;1547;p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8" name="Google Shape;1548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9" name="Google Shape;1549;p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0" name="Google Shape;1550;p5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51" name="Google Shape;1551;p54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52" name="Google Shape;1552;p54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53" name="Google Shape;1553;p54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54" name="Google Shape;1554;p54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55" name="Google Shape;1555;p54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56" name="Google Shape;1556;p54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57" name="Google Shape;1557;p54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58" name="Google Shape;1558;p54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59" name="Google Shape;1559;p54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60" name="Google Shape;1560;p54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61" name="Google Shape;1561;p54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62" name="Google Shape;1562;p5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63" name="Google Shape;1563;p5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64" name="Google Shape;1564;p5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65" name="Google Shape;1565;p5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55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68" name="Google Shape;1568;p55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/>
        </p:txBody>
      </p:sp>
      <p:sp>
        <p:nvSpPr>
          <p:cNvPr id="1569" name="Google Shape;1569;p55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70" name="Google Shape;1570;p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1" name="Google Shape;1571;p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2" name="Google Shape;1572;p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3" name="Google Shape;1573;p55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4" name="Google Shape;1574;p55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75" name="Google Shape;1575;p55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76" name="Google Shape;1576;p55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77" name="Google Shape;1577;p55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78" name="Google Shape;1578;p55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79" name="Google Shape;1579;p55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580" name="Google Shape;1580;p5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2" name="Google Shape;1582;p5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3" name="Google Shape;1583;p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4" name="Google Shape;1584;p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5" name="Google Shape;1585;p5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6" name="Google Shape;1586;p56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/>
        </p:txBody>
      </p:sp>
      <p:sp>
        <p:nvSpPr>
          <p:cNvPr id="1587" name="Google Shape;1587;p5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88" name="Google Shape;1588;p5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89" name="Google Shape;1589;p5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90" name="Google Shape;1590;p5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2" name="Google Shape;1592;p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3" name="Google Shape;1593;p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4" name="Google Shape;1594;p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5" name="Google Shape;1595;p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6" name="Google Shape;1596;p57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97" name="Google Shape;1597;p5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98" name="Google Shape;1598;p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99" name="Google Shape;1599;p5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600" name="Google Shape;1600;p5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12187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58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1603" name="Google Shape;1603;p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04" name="Google Shape;1604;p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5" name="Google Shape;1605;p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6" name="Google Shape;1606;p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7" name="Google Shape;1607;p5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08" name="Google Shape;1608;p5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59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11" name="Google Shape;1611;p59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12" name="Google Shape;1612;p59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1613" name="Google Shape;1613;p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4" name="Google Shape;1614;p5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15" name="Google Shape;1615;p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6" name="Google Shape;1616;p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7" name="Google Shape;1617;p59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18" name="Google Shape;1618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0" name="Google Shape;1620;p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1" name="Google Shape;1621;p6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22" name="Google Shape;1622;p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3" name="Google Shape;1623;p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4" name="Google Shape;1624;p6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5" name="Google Shape;1625;p60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626" name="Google Shape;1626;p60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627" name="Google Shape;1627;p6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89.xml"/><Relationship Id="rId36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2.xml"/><Relationship Id="rId39" Type="http://schemas.openxmlformats.org/officeDocument/2006/relationships/slideLayout" Target="../slideLayouts/slideLayout93.xml"/><Relationship Id="rId40" Type="http://schemas.openxmlformats.org/officeDocument/2006/relationships/slideLayout" Target="../slideLayouts/slideLayout94.xml"/><Relationship Id="rId41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6.xml"/><Relationship Id="rId43" Type="http://schemas.openxmlformats.org/officeDocument/2006/relationships/slideLayout" Target="../slideLayouts/slideLayout97.xml"/><Relationship Id="rId44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99.xml"/><Relationship Id="rId46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3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699196abe_36_1311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g3f699196abe_36_131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marR="0" rtl="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g3f699196abe_36_1311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i="0" lang="en" sz="700" u="none" cap="none" strike="noStrike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b="0" i="0" sz="700" u="none" cap="none" strike="noStrike">
              <a:solidFill>
                <a:srgbClr val="00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9" name="Google Shape;9;g3f699196abe_36_13111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b="0" i="0" sz="800" u="none" cap="none" strike="noStrike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39" name="Google Shape;839;p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marR="0" rtl="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40" name="Google Shape;840;p1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i="0" lang="en" sz="700" u="none" cap="none" strike="noStrike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b="0" i="0" sz="700" u="none" cap="none" strike="noStrike">
              <a:solidFill>
                <a:srgbClr val="00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841" name="Google Shape;841;p11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b="0" i="0" sz="800" u="none" cap="none" strike="noStrike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  <p:sldLayoutId id="2147483745" r:id="rId42"/>
    <p:sldLayoutId id="2147483746" r:id="rId43"/>
    <p:sldLayoutId id="2147483747" r:id="rId44"/>
    <p:sldLayoutId id="2147483748" r:id="rId45"/>
    <p:sldLayoutId id="2147483749" r:id="rId46"/>
    <p:sldLayoutId id="2147483750" r:id="rId47"/>
    <p:sldLayoutId id="2147483751" r:id="rId48"/>
    <p:sldLayoutId id="2147483752" r:id="rId4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Self-Tuning Signal Intelligence on Commodity Hardware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Cascade Compression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10M</a:t>
            </a:r>
            <a:br/>
            <a:r>
              <a:t>signals/day</a:t>
            </a:r>
            <a:br/>
            <a:r>
              <a:t>at a mid-size bank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$540K</a:t>
            </a:r>
            <a:br/>
            <a:r>
              <a:t>3-year cloud</a:t>
            </a:r>
            <a:br/>
            <a:r>
              <a:t>API cost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signal hits an LLM.</a:t>
            </a:r>
            <a:br/>
            <a:r>
              <a:t>That's the problem.</a:t>
            </a:r>
            <a:br/>
            <a:br/>
            <a:r>
              <a:t>Enterprise AI processes millions of signals daily.</a:t>
            </a:r>
            <a:br/>
            <a:r>
              <a:t>The default: route everything to a model.</a:t>
            </a:r>
            <a:br/>
            <a:br/>
            <a:r>
              <a:t>• Cost scales linearly with volume</a:t>
            </a:r>
            <a:br/>
            <a:r>
              <a:t>• Latency degrades under load</a:t>
            </a:r>
            <a:br/>
            <a:r>
              <a:t>• 82-99% of signals are routine noise</a:t>
            </a:r>
            <a:br/>
            <a:br/>
            <a:r>
              <a:t>What if 82% of signals never needed</a:t>
            </a:r>
            <a:br/>
            <a:r>
              <a:t>inference at all?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NANO TIER (82-99%)</a:t>
            </a:r>
            <a:br/>
            <a:r>
              <a:t>Deterministic agents</a:t>
            </a:r>
            <a:br/>
            <a:r>
              <a:t>~1μs per signal</a:t>
            </a:r>
            <a:br/>
            <a:br/>
            <a:r>
              <a:t>• Deduplication (content hash)</a:t>
            </a:r>
            <a:br/>
            <a:r>
              <a:t>• Transient suppression</a:t>
            </a:r>
            <a:br/>
            <a:r>
              <a:t>• Severity gate</a:t>
            </a:r>
            <a:br/>
            <a:r>
              <a:t>• Pattern/threshold classifiers</a:t>
            </a:r>
            <a:br/>
            <a:r>
              <a:t>• Learned agents (discovered</a:t>
            </a:r>
            <a:br/>
            <a:r>
              <a:t>  at runtime from signal patterns)</a:t>
            </a:r>
            <a:br/>
            <a:r>
              <a:t>• Contextual suppressors</a:t>
            </a:r>
            <a:br/>
            <a:r>
              <a:t>  (101 learned in 24h)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MICRO TIER (1-15%)</a:t>
            </a:r>
            <a:br/>
            <a:r>
              <a:t>Small CPU LLM (Granite 2B/8B)</a:t>
            </a:r>
            <a:br/>
            <a:r>
              <a:t>~600ms per signal</a:t>
            </a:r>
            <a:br/>
            <a:br/>
            <a:r>
              <a:t>4 classification buckets:</a:t>
            </a:r>
            <a:br/>
            <a:r>
              <a:t>• routine_noise</a:t>
            </a:r>
            <a:br/>
            <a:r>
              <a:t>• known_pattern</a:t>
            </a:r>
            <a:br/>
            <a:r>
              <a:t>• needs_attention</a:t>
            </a:r>
            <a:br/>
            <a:r>
              <a:t>• real_incident</a:t>
            </a:r>
            <a:br/>
            <a:br/>
            <a:r>
              <a:t>MACRO TIER (&lt;1%)</a:t>
            </a:r>
            <a:br/>
            <a:r>
              <a:t>GPU LLM (Phi-4)</a:t>
            </a:r>
            <a:br/>
            <a:r>
              <a:t>~900ms per signal</a:t>
            </a:r>
            <a:br/>
            <a:r>
              <a:t>Structured evidence bundles:</a:t>
            </a:r>
            <a:br/>
            <a:r>
              <a:t>root cause, impact, remediation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tiers. Most signals never touch a model.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t>Deterministic agents handle 82-99%. CPU models handle the rest.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Self-Tuning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T+0</a:t>
            </a:r>
            <a:br/>
            <a:r>
              <a:t>Zero agents</a:t>
            </a:r>
            <a:br/>
            <a:br/>
            <a:r>
              <a:t>T+15m</a:t>
            </a:r>
            <a:br/>
            <a:r>
              <a:t>First agent</a:t>
            </a:r>
            <a:br/>
            <a:r>
              <a:t>activated</a:t>
            </a:r>
            <a:br/>
            <a:br/>
            <a:r>
              <a:t>T+60m</a:t>
            </a:r>
            <a:br/>
            <a:r>
              <a:t>96%+</a:t>
            </a:r>
            <a:br/>
            <a:r>
              <a:t>compression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38</a:t>
            </a:r>
            <a:br/>
            <a:r>
              <a:t>agents</a:t>
            </a:r>
            <a:br/>
            <a:r>
              <a:t>discovered</a:t>
            </a:r>
            <a:br/>
            <a:br/>
            <a:r>
              <a:t>101</a:t>
            </a:r>
            <a:br/>
            <a:r>
              <a:t>contextual</a:t>
            </a:r>
            <a:br/>
            <a:r>
              <a:t>suppressors</a:t>
            </a:r>
            <a:br/>
            <a:br/>
            <a:r>
              <a:t>0</a:t>
            </a:r>
            <a:br/>
            <a:r>
              <a:t>false</a:t>
            </a:r>
            <a:br/>
            <a:r>
              <a:t>negatives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cascade discovers its own rules.</a:t>
            </a:r>
            <a:br/>
            <a:r>
              <a:t>No human writes agents.</a:t>
            </a:r>
            <a:br/>
            <a:br/>
            <a:r>
              <a:t>1. Corpus Analyzer detects patterns</a:t>
            </a:r>
            <a:br/>
            <a:r>
              <a:t>   (repeat floods, dominant types,</a:t>
            </a:r>
            <a:br/>
            <a:r>
              <a:t>   contextual noise)</a:t>
            </a:r>
            <a:br/>
            <a:br/>
            <a:r>
              <a:t>2. Proposes draft agents</a:t>
            </a:r>
            <a:br/>
            <a:br/>
            <a:r>
              <a:t>3. LLM validates (200+ samples,</a:t>
            </a:r>
            <a:br/>
            <a:r>
              <a:t>   zero important signals)</a:t>
            </a:r>
            <a:br/>
            <a:br/>
            <a:r>
              <a:t>4. Agent activates at nano tier</a:t>
            </a:r>
            <a:br/>
            <a:r>
              <a:t>   → LLM never sees that type again</a:t>
            </a:r>
            <a:br/>
            <a:br/>
            <a:r>
              <a:t>5. Five safety layers prevent</a:t>
            </a:r>
            <a:br/>
            <a:r>
              <a:t>   false negatives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LIVE SOAK (72+ hours)</a:t>
            </a:r>
            <a:br/>
            <a:br/>
            <a:r>
              <a:t>• 5.5M+ signals processed</a:t>
            </a:r>
            <a:br/>
            <a:r>
              <a:t>• K8s 82% / AAP 97% compression</a:t>
            </a:r>
            <a:br/>
            <a:r>
              <a:t>• 44 agents activated (37 K8s + 7 AAP)</a:t>
            </a:r>
            <a:br/>
            <a:r>
              <a:t>• 55 suppression suppressors</a:t>
            </a:r>
            <a:br/>
            <a:r>
              <a:t>• 511K+ CPU classifications</a:t>
            </a:r>
            <a:br/>
            <a:r>
              <a:t>• 19K+ GPU analyses</a:t>
            </a:r>
            <a:br/>
            <a:r>
              <a:t>• 1.2M+ ledger decision records</a:t>
            </a:r>
            <a:br/>
            <a:r>
              <a:t>• 15 pods across 9 clusters</a:t>
            </a:r>
            <a:br/>
            <a:r>
              <a:t>• 17 collectors feeding the cascade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SAFETY RESULTS</a:t>
            </a:r>
            <a:br/>
            <a:br/>
            <a:r>
              <a:t>• Shadow: 25,700+ checks, 296 demotions</a:t>
            </a:r>
            <a:br/>
            <a:r>
              <a:t>• GCL: independent audit running</a:t>
            </a:r>
            <a:br/>
            <a:r>
              <a:t>• FN gate: zero real misses</a:t>
            </a:r>
            <a:br/>
            <a:r>
              <a:t>• TTL: 72h expiry, re-qualification</a:t>
            </a:r>
            <a:br/>
            <a:br/>
            <a:r>
              <a:t>REPLAY VALIDATION</a:t>
            </a:r>
            <a:br/>
            <a:br/>
            <a:r>
              <a:t>• 142.4M K8s signals replayed</a:t>
            </a:r>
            <a:br/>
            <a:r>
              <a:t>• 99.1% compression</a:t>
            </a:r>
            <a:br/>
            <a:r>
              <a:t>• 3 hardened agents</a:t>
            </a:r>
            <a:br/>
            <a:r>
              <a:t>• Confirms compression ceiling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Production Validation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5.5M+ live signals. 9 clusters. Zero false negatives.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t>Running on Intel Xeon 6 — no GPU in the inference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t>$266K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r>
              <a:t>GPU (H100)</a:t>
            </a:r>
            <a:br/>
            <a:r>
              <a:t>8x the cost.</a:t>
            </a:r>
            <a:br/>
            <a:r>
              <a:t>Same accuracy.</a:t>
            </a:r>
            <a:br/>
            <a:r>
              <a:t>Full GPU rack.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t>$540K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r>
              <a:t>Cloud API</a:t>
            </a:r>
            <a:br/>
            <a:r>
              <a:t>16x the cost.</a:t>
            </a:r>
            <a:br/>
            <a:r>
              <a:t>No institutional</a:t>
            </a:r>
            <a:br/>
            <a:r>
              <a:t>memory. No learning.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>
            <a:r>
              <a:t>$33K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Cascade on Xeon 6</a:t>
            </a:r>
            <a:br/>
            <a:r>
              <a:t>CPU only. 13% server</a:t>
            </a:r>
            <a:br/>
            <a:r>
              <a:t>utilization with full</a:t>
            </a:r>
            <a:br/>
            <a:r>
              <a:t>governance stack.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TCO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 change when 82% of signals don't need inference</a:t>
            </a:r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t>3-year cost comparison processing 10M signals/day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Benchmarks (Xeon 6 CPU)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Per-Tier</a:t>
            </a:r>
            <a:br/>
            <a:r>
              <a:t>Routing</a:t>
            </a:r>
            <a:br/>
            <a:br/>
            <a:r>
              <a:t>Micro: Granite 2B</a:t>
            </a:r>
            <a:br/>
            <a:r>
              <a:t>(medium/low)</a:t>
            </a:r>
            <a:br/>
            <a:br/>
            <a:r>
              <a:t>Macro: Phi-4</a:t>
            </a:r>
            <a:br/>
            <a:r>
              <a:t>(critical/high)</a:t>
            </a:r>
            <a:br/>
            <a:br/>
            <a:r>
              <a:t>No hardcoded</a:t>
            </a:r>
            <a:br/>
            <a:r>
              <a:t>defaults —</a:t>
            </a:r>
            <a:br/>
            <a:r>
              <a:t>operator chooses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100%</a:t>
            </a:r>
            <a:br/>
            <a:r>
              <a:t>Deterministic</a:t>
            </a:r>
            <a:br/>
            <a:br/>
            <a:r>
              <a:t>Same input</a:t>
            </a:r>
            <a:br/>
            <a:r>
              <a:t>same output</a:t>
            </a:r>
            <a:br/>
            <a:r>
              <a:t>every time</a:t>
            </a:r>
            <a:br/>
            <a:r>
              <a:t>at temp=0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inference is fast enough</a:t>
            </a:r>
            <a:br/>
            <a:r>
              <a:t>when 82% of signals are already handled</a:t>
            </a:r>
            <a:br/>
            <a:br/>
            <a:r>
              <a:t>granite-8b: 14/20, 860ms, 0 dangerous</a:t>
            </a:r>
            <a:br/>
            <a:r>
              <a:t>phi4-mini:    14/20, 734ms, 0 dangerous</a:t>
            </a:r>
            <a:br/>
            <a:r>
              <a:t>granite-2b:  13/20, 677ms, 1 dangerous</a:t>
            </a:r>
            <a:br/>
            <a:br/>
            <a:r>
              <a:t>All models 100% deterministic at temp=0</a:t>
            </a:r>
            <a:br/>
            <a:br/>
            <a:r>
              <a:t>Prompt tuning: 0.9% → 37.3% noise rate</a:t>
            </a:r>
            <a:br/>
            <a:r>
              <a:t>while maintaining 0 false negatives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Five Safety Layers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Immutable</a:t>
            </a:r>
            <a:br/>
            <a:r>
              <a:t>Ledger</a:t>
            </a:r>
            <a:br/>
            <a:br/>
            <a:r>
              <a:t>1.2M+</a:t>
            </a:r>
            <a:br/>
            <a:r>
              <a:t>decision</a:t>
            </a:r>
            <a:br/>
            <a:r>
              <a:t>records</a:t>
            </a:r>
            <a:br/>
            <a:br/>
            <a:r>
              <a:t>Hash-chained</a:t>
            </a:r>
            <a:br/>
            <a:r>
              <a:t>append-only</a:t>
            </a:r>
            <a:br/>
            <a:r>
              <a:t>audit trail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Shadow</a:t>
            </a:r>
            <a:br/>
            <a:r>
              <a:t>Results</a:t>
            </a:r>
            <a:br/>
            <a:br/>
            <a:r>
              <a:t>1,400+</a:t>
            </a:r>
            <a:br/>
            <a:r>
              <a:t>checks</a:t>
            </a:r>
            <a:br/>
            <a:br/>
            <a:r>
              <a:t>0</a:t>
            </a:r>
            <a:br/>
            <a:r>
              <a:t>demotions</a:t>
            </a:r>
            <a:br/>
            <a:br/>
            <a:r>
              <a:t>Agents are</a:t>
            </a:r>
            <a:br/>
            <a:r>
              <a:t>correct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single layer can be bypassed.</a:t>
            </a:r>
            <a:br/>
            <a:br/>
            <a:r>
              <a:t>1. Zero-FN Gate</a:t>
            </a:r>
            <a:br/>
            <a:r>
              <a:t>   200+ samples, 0 important → 95.1%</a:t>
            </a:r>
            <a:br/>
            <a:r>
              <a:t>   confidence FN rate &lt; 1.5%</a:t>
            </a:r>
            <a:br/>
            <a:br/>
            <a:r>
              <a:t>2. Shadow Validation</a:t>
            </a:r>
            <a:br/>
            <a:r>
              <a:t>   5% re-checked by independent model</a:t>
            </a:r>
            <a:br/>
            <a:r>
              <a:t>   (Phi-4 ≠ Granite → no correlated errors)</a:t>
            </a:r>
            <a:br/>
            <a:br/>
            <a:r>
              <a:t>3. GCL Audit</a:t>
            </a:r>
            <a:br/>
            <a:r>
              <a:t>   Independent adversary: "argue why</a:t>
            </a:r>
            <a:br/>
            <a:r>
              <a:t>   this signal should NOT be dropped"</a:t>
            </a:r>
            <a:br/>
            <a:br/>
            <a:r>
              <a:t>4. 72h TTL</a:t>
            </a:r>
            <a:br/>
            <a:r>
              <a:t>   Every agent expires and re-qualifies</a:t>
            </a:r>
            <a:br/>
            <a:br/>
            <a:r>
              <a:t>5. Instant Demotion + Cooling-Off</a:t>
            </a:r>
            <a:br/>
            <a:r>
              <a:t>   Any confirmed FN → immediate deactivation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Domain Agnostic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17</a:t>
            </a:r>
            <a:br/>
            <a:r>
              <a:t>collectors</a:t>
            </a:r>
            <a:br/>
            <a:br/>
            <a:r>
              <a:t>9</a:t>
            </a:r>
            <a:br/>
            <a:r>
              <a:t>domain</a:t>
            </a:r>
            <a:br/>
            <a:r>
              <a:t>packs</a:t>
            </a:r>
            <a:br/>
            <a:br/>
            <a:r>
              <a:t>760</a:t>
            </a:r>
            <a:br/>
            <a:r>
              <a:t>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24,718</a:t>
            </a:r>
            <a:br/>
            <a:r>
              <a:t>lines of</a:t>
            </a:r>
            <a:br/>
            <a:r>
              <a:t>Python</a:t>
            </a:r>
            <a:br/>
            <a:br/>
            <a:r>
              <a:t>100</a:t>
            </a:r>
            <a:br/>
            <a:r>
              <a:t>source</a:t>
            </a:r>
            <a:br/>
            <a:r>
              <a:t>files</a:t>
            </a:r>
            <a:br/>
            <a:br/>
            <a:r>
              <a:t>CDD→TDD</a:t>
            </a:r>
            <a:br/>
            <a:r>
              <a:t>→EDD→BDD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framework. Ten domains.</a:t>
            </a:r>
            <a:br/>
            <a:r>
              <a:t>3 federated cascades.</a:t>
            </a:r>
            <a:br/>
            <a:br/>
            <a:r>
              <a:t>Collector + Prompt + Data = Domain Pack
+ Jira/Git/Confluence (knowledge, 83%)</a:t>
            </a:r>
            <a:br/>
            <a:br/>
            <a:r>
              <a:t>• Kubernetes (82%, production)</a:t>
            </a:r>
            <a:br/>
            <a:r>
              <a:t>• AAP/Ansible (97%, production)</a:t>
            </a:r>
            <a:br/>
            <a:r>
              <a:t>• Prometheus/Thanos</a:t>
            </a:r>
            <a:br/>
            <a:r>
              <a:t>• Ceph/ODF storage</a:t>
            </a:r>
            <a:br/>
            <a:r>
              <a:t>• ArgoCD, OVN, Poolboy, Babylon</a:t>
            </a:r>
            <a:br/>
            <a:r>
              <a:t>• Financial Services (61%, cold start)</a:t>
            </a:r>
            <a:br/>
            <a:r>
              <a:t>• Healthcare (91%, cold start)</a:t>
            </a:r>
            <a:br/>
            <a:r>
              <a:t>• Insurance (81%, cold start)</a:t>
            </a:r>
            <a:br/>
            <a:r>
              <a:t>• Retail (88%, cold start)</a:t>
            </a:r>
            <a:br/>
            <a:r>
              <a:t>• Telecom (94%, cold start)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Get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What</a:t>
            </a:r>
            <a:br/>
            <a:r>
              <a:t>You Need</a:t>
            </a:r>
            <a:br/>
            <a:br/>
            <a:r>
              <a:t>• Xeon 6 server</a:t>
            </a:r>
            <a:br/>
            <a:r>
              <a:t>  (or any x86 CPU)</a:t>
            </a:r>
            <a:br/>
            <a:r>
              <a:t>• LLM endpoint</a:t>
            </a:r>
            <a:br/>
            <a:r>
              <a:t>• Data source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What</a:t>
            </a:r>
            <a:br/>
            <a:r>
              <a:t>You Get</a:t>
            </a:r>
            <a:br/>
            <a:br/>
            <a:r>
              <a:t>• 82-99%</a:t>
            </a:r>
            <a:br/>
            <a:r>
              <a:t>  compression</a:t>
            </a:r>
            <a:br/>
            <a:r>
              <a:t>• Zero FN</a:t>
            </a:r>
            <a:br/>
            <a:r>
              <a:t>• Institutional</a:t>
            </a:r>
            <a:br/>
            <a:r>
              <a:t>  memory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install cascade-compression</a:t>
            </a:r>
            <a:br/>
            <a:br/>
            <a:r>
              <a:t>cascade-run \</a:t>
            </a:r>
            <a:br/>
            <a:r>
              <a:t>  --domain kubernetes \</a:t>
            </a:r>
            <a:br/>
            <a:r>
              <a:t>  --llm-url https://your-llm/v1 \</a:t>
            </a:r>
            <a:br/>
            <a:r>
              <a:t>  --llm-key sk-...</a:t>
            </a:r>
            <a:br/>
            <a:br/>
            <a:r>
              <a:t>Or deploy on OpenShift:</a:t>
            </a:r>
            <a:br/>
            <a:r>
              <a:t>  oc apply -f deploy/openshift-federated.yaml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Cascade Compression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Bring your signals. See the compression in real time.</a:t>
            </a:r>
            <a:br/>
            <a:br/>
            <a:r>
              <a:t>https://github.com/jkershawrh/cascade-compression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515"/>
                </a:solidFill>
              </a:defRPr>
            </a:pPr>
            <a:r>
              <a:t>Memory &amp; Federation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E73"/>
                </a:solidFill>
              </a:defRPr>
            </a:pPr>
            <a:r>
              <a:t>Survivors become institutional memory. 20,900+ memories across 3 federated domains.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51515"/>
                </a:solidFill>
              </a:defRPr>
            </a:pPr>
            <a:r>
              <a:t>K8s Cascade: 9,900 memories, avg 0.99 strength</a:t>
            </a:r>
          </a:p>
          <a:p>
            <a:pPr>
              <a:spcAft>
                <a:spcPts val="800"/>
              </a:spcAft>
              <a:defRPr sz="1400">
                <a:solidFill>
                  <a:srgbClr val="151515"/>
                </a:solidFill>
              </a:defRPr>
            </a:pPr>
            <a:r>
              <a:t>AAP Cascade: 9,100 memories, avg 0.54 strength</a:t>
            </a:r>
          </a:p>
          <a:p>
            <a:pPr>
              <a:spcAft>
                <a:spcPts val="800"/>
              </a:spcAft>
              <a:defRPr sz="1400">
                <a:solidFill>
                  <a:srgbClr val="151515"/>
                </a:solidFill>
              </a:defRPr>
            </a:pPr>
            <a:r>
              <a:t>Knowledge Cascade: 3,900 memories (Jira/Git/Confluence)</a:t>
            </a:r>
          </a:p>
          <a:p>
            <a:pPr>
              <a:spcAft>
                <a:spcPts val="800"/>
              </a:spcAft>
              <a:defRPr sz="1400">
                <a:solidFill>
                  <a:srgbClr val="151515"/>
                </a:solidFill>
              </a:defRPr>
            </a:pPr>
            <a:r>
              <a:t>Aggregator: 20,900+ across 3 federated sources</a:t>
            </a:r>
          </a:p>
          <a:p>
            <a:pPr>
              <a:spcAft>
                <a:spcPts val="800"/>
              </a:spcAft>
              <a:defRPr sz="1400">
                <a:solidFill>
                  <a:srgbClr val="151515"/>
                </a:solidFill>
              </a:defRPr>
            </a:pPr>
            <a:r>
              <a:t>Evictions: 700K+ (consolidation separating noise)</a:t>
            </a:r>
          </a:p>
          <a:p>
            <a:pPr>
              <a:spcAft>
                <a:spcPts val="800"/>
              </a:spcAft>
              <a:defRPr sz="1400">
                <a:solidFill>
                  <a:srgbClr val="151515"/>
                </a:solidFill>
              </a:defRPr>
            </a:pPr>
            <a:r>
              <a:t>Re-imports Blocked: 11K+ (dedup working)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51515"/>
                </a:solidFill>
              </a:defRPr>
            </a:pPr>
            <a:r>
              <a:t>Five capabilities: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1. Survivor Archive — strength-weighted lifecycle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2. Recall — &lt;50ms for 1,000 memories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3. Consolidation — noise decays, core survives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4. Priming — critical incidents escalate related types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5. Federation — cross-instance memory sharing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51515"/>
                </a:solidFill>
              </a:defRPr>
            </a:pPr>
            <a:r>
              <a:t>GPU Evidence Bundles: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Phi-4 produces structured root cause analyses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with precedent from the memory archive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515"/>
                </a:solidFill>
              </a:defRPr>
            </a:pPr>
            <a:r>
              <a:t>Organizational Knowledge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E73"/>
                </a:solidFill>
              </a:defRPr>
            </a:pPr>
            <a:r>
              <a:t>Same cascade framework applied to Jira, GitHub (819 repos), and Confluence. 83% compression.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51515"/>
                </a:solidFill>
              </a:defRPr>
            </a:pPr>
            <a:r>
              <a:t>What it surfaces: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165 hotfix/revert commits across rhpds org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   ZeroTouch labs most unstable (constant reverts)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7 Jira tickets with 16-22 comments (decision churn)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   CI onboarding is where process friction lives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11 runbooks created but never updated (v1)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   Written once, never validated against reality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Developer Onboarding doc revised 40 times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   ISV QE doc has 931 versions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51515"/>
                </a:solidFill>
              </a:defRPr>
            </a:pPr>
            <a:r>
              <a:t>Cross-domain correlation: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Git hotfix → Jira ticket → Confluence runbook gap</a:t>
            </a:r>
          </a:p>
          <a:p>
            <a:pPr>
              <a:spcAft>
                <a:spcPts val="400"/>
              </a:spcAft>
              <a:defRPr sz="1300">
                <a:solidFill>
                  <a:srgbClr val="151515"/>
                </a:solidFill>
              </a:defRPr>
            </a:pPr>
            <a:r>
              <a:t>Operational + organizational in same aggregator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51515"/>
                </a:solidFill>
              </a:defRPr>
            </a:pPr>
            <a:r>
              <a:t>Three collectors: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151515"/>
                </a:solidFill>
              </a:defRPr>
            </a:pPr>
            <a:r>
              <a:t>Jira (60s interval)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Atlassian Cloud REST API v3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Projects: GPTEINFRA, RHDP, CPEX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Maps: incident_repeat, decision_revisited,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  documentation_gap, hotfix_pattern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151515"/>
                </a:solidFill>
              </a:defRPr>
            </a:pPr>
            <a:r>
              <a:t>GitHub (1h interval)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Org-level discovery: 819 non-archived repos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Maps: hotfix_pattern, code_review_repeat,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  large_commit, pr_abandoned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151515"/>
                </a:solidFill>
              </a:defRPr>
            </a:pPr>
            <a:r>
              <a:t>Confluence (2h interval)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REST API v2, all spaces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Maps: runbook_decay, documentation_gap,</a:t>
            </a:r>
          </a:p>
          <a:p>
            <a:pPr>
              <a:spcAft>
                <a:spcPts val="300"/>
              </a:spcAft>
              <a:defRPr sz="1200">
                <a:solidFill>
                  <a:srgbClr val="151515"/>
                </a:solidFill>
              </a:defRPr>
            </a:pPr>
            <a:r>
              <a:t>  incident_learning, decision_revisited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